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1695" cy="6858000"/>
  <p:notesSz cx="6858000" cy="9144000"/>
  <p:defaultTextStyle>
    <a:lvl1pPr marL="0" algn="l" defTabSz="457200" rtl="0" eaLnBrk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theme" Target="theme/theme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95B21-E8EE-4505-87E0-7B7F2C3DBBD0}" type="datetimeFigureOut">
              <a:rPr lang="en-US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C6D5D-A00E-4AA9-84F2-364CBECE0EE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609E6-1126-4CCC-8F95-892B304C12E9}" type="datetimeFigureOut">
              <a:rPr lang="en-US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D0F9E-EF7E-4C26-8662-25A73F2263D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082BF-5467-4883-8896-824F7369BC9A}" type="datetimeFigureOut">
              <a:rPr lang="en-US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18080-B33E-4073-8615-72D8F5AE8F7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66248-C912-41CA-84D9-08E1C7982093}" type="datetimeFigureOut">
              <a:rPr lang="en-US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B9569-04AF-4288-8880-64CE52ABE7A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/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FB636-F4D9-4299-85F9-44D23E27C49C}" type="datetimeFigureOut">
              <a:rPr lang="en-US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33E07-937E-4FED-8300-89129584345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AC346-E4DF-45C0-848B-E2AC5513E0D5}" type="datetimeFigureOut">
              <a:rPr lang="en-US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8B55B-FA15-48BA-860D-0231187503D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0B29E-DC2A-4D67-887F-3BE2DC8489D6}" type="datetimeFigureOut">
              <a:rPr lang="en-US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0EBC0-ADA9-4FA7-889C-9287646BC79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563BD-7186-488E-816C-8F41FA24179F}" type="datetimeFigureOut">
              <a:rPr lang="en-US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25AB8-FB3A-479C-8780-0B7E5F586C0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02C48-70E8-4C8D-81F4-17FB598144B8}" type="datetimeFigureOut">
              <a:rPr lang="en-US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FC29A-6C4F-4141-86E3-1A3E2D58E3A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02B83-4DFE-444B-8222-D5FF1EA6B44C}" type="datetimeFigureOut">
              <a:rPr lang="en-US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9C649-D3E0-46CB-87C1-67136E4226A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A40F9-1701-4EB4-806D-4ED861E7A003}" type="datetimeFigureOut">
              <a:rPr lang="en-US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BE78A-EB3E-401E-81B5-D7F53201DAF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ffice Them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ADADCF-DC63-475D-8D69-AEBF4EDF3BBC}" type="datetimeFigureOut">
              <a:rPr lang="en-US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3D6AB1-0FDA-49F1-8390-8828CE9E6676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defTabSz="457200" rtl="0" eaLnBrk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3B57"/>
                </a:solidFill>
              </a:rPr>
              <a:t>Speech Enhancement and Noise Removal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55555"/>
                </a:solidFill>
              </a:rPr>
              <a:t>Real-time DSP, CPU ONNX ML, hybrid processing, and virtual microphone routing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/>
              <a:t>Windows desktop application for audio capture, enhancement, comparison, evaluation, and report generation.</a:t>
            </a:r>
          </a:p>
          <a:p>
            <a:pPr>
              <a:spcAft>
                <a:spcPts val="400"/>
              </a:spcAft>
            </a:pPr>
            <a:r>
              <a:rPr/>
              <a:t>Implemented with Python, PySide6, NumPy, SciPy, ONNX Runtime, sounddevice, and matplotlib.</a:t>
            </a:r>
          </a:p>
          <a:p>
            <a:pPr>
              <a:spcAft>
                <a:spcPts val="400"/>
              </a:spcAft>
            </a:pPr>
            <a:r>
              <a:rPr/>
              <a:t>Mode support: DSP, ML-enhanced, and hybrid ML-followed-by-DSP processing.</a:t>
            </a:r>
          </a:p>
          <a:p>
            <a:pPr>
              <a:spcAft>
                <a:spcPts val="400"/>
              </a:spcAft>
            </a:pPr>
            <a:r>
              <a:rPr/>
              <a:t>Academic fields shown as placeholders for names, roll numbers, institution, department, guide, and academic year.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21208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/>
              <a:t>Prepared for project review. Evidence is taken from the current workspace: source code, tests, evaluation results, plots, and build output.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35508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55555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3B57"/>
                </a:solidFill>
              </a:rPr>
              <a:t>Problem Statement, Motivation, and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/>
              <a:t>Background noise reduces speech clarity in recorded and live audio.</a:t>
            </a:r>
          </a:p>
          <a:p>
            <a:pPr>
              <a:spcAft>
                <a:spcPts val="400"/>
              </a:spcAft>
            </a:pPr>
            <a:r>
              <a:rPr/>
              <a:t>Noise reduction must suppress noise while preserving speech; over-suppression can create distortion, pumping, ringing, or robotic artifacts.</a:t>
            </a:r>
          </a:p>
          <a:p>
            <a:pPr>
              <a:spcAft>
                <a:spcPts val="400"/>
              </a:spcAft>
            </a:pPr>
            <a:r>
              <a:rPr/>
              <a:t>Real-time software must avoid feedback loops, bounded-buffer overruns, and missed audio callbacks.</a:t>
            </a:r>
          </a:p>
          <a:p>
            <a:pPr>
              <a:spcAft>
                <a:spcPts val="400"/>
              </a:spcAft>
            </a:pPr>
            <a:r>
              <a:rPr/>
              <a:t>Objectives:</a:t>
            </a:r>
          </a:p>
          <a:p>
            <a:pPr>
              <a:spcAft>
                <a:spcPts val="400"/>
              </a:spcAft>
            </a:pPr>
            <a:r>
              <a:rPr/>
              <a:t>  • Capture microphone audio and support configurable devices.</a:t>
            </a:r>
          </a:p>
          <a:p>
            <a:pPr>
              <a:spcAft>
                <a:spcPts val="400"/>
              </a:spcAft>
            </a:pPr>
            <a:r>
              <a:rPr/>
              <a:t>  • Implement DSP, ML, and hybrid enhancement methods.</a:t>
            </a:r>
          </a:p>
          <a:p>
            <a:pPr>
              <a:spcAft>
                <a:spcPts val="400"/>
              </a:spcAft>
            </a:pPr>
            <a:r>
              <a:rPr/>
              <a:t>  • Compare methods using the same input audio.</a:t>
            </a:r>
          </a:p>
          <a:p>
            <a:pPr>
              <a:spcAft>
                <a:spcPts val="400"/>
              </a:spcAft>
            </a:pPr>
            <a:r>
              <a:rPr/>
              <a:t>  • Generate RMS, peak, SNR, RTF, plots, metrics, and PDF reports where available.</a:t>
            </a:r>
          </a:p>
          <a:p>
            <a:pPr>
              <a:spcAft>
                <a:spcPts val="400"/>
              </a:spcAft>
            </a:pPr>
            <a:r>
              <a:rPr/>
              <a:t>  • Route enhanced speech to a virtual microphone for meeting applications without using physical speakers by default.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35508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55555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3B57"/>
                </a:solidFill>
              </a:rPr>
              <a:t>Proposed Solution and System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011680"/>
            <a:ext cx="1508760" cy="594360"/>
          </a:xfrm>
          <a:prstGeom prst="roundRect">
            <a:avLst/>
          </a:prstGeom>
          <a:solidFill>
            <a:srgbClr val="2E6FA6"/>
          </a:solidFill>
          <a:ln>
            <a:solidFill>
              <a:srgbClr val="1F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Audio Input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14600" y="2011680"/>
            <a:ext cx="1508760" cy="594360"/>
          </a:xfrm>
          <a:prstGeom prst="roundRect">
            <a:avLst/>
          </a:prstGeom>
          <a:solidFill>
            <a:srgbClr val="2E6FA6"/>
          </a:solidFill>
          <a:ln>
            <a:solidFill>
              <a:srgbClr val="1F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Preprocess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2011680"/>
            <a:ext cx="1508760" cy="594360"/>
          </a:xfrm>
          <a:prstGeom prst="roundRect">
            <a:avLst/>
          </a:prstGeom>
          <a:solidFill>
            <a:srgbClr val="2E6FA6"/>
          </a:solidFill>
          <a:ln>
            <a:solidFill>
              <a:srgbClr val="1F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Enhancement Engine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80759" y="2011680"/>
            <a:ext cx="1508760" cy="594360"/>
          </a:xfrm>
          <a:prstGeom prst="roundRect">
            <a:avLst/>
          </a:prstGeom>
          <a:solidFill>
            <a:srgbClr val="2E6FA6"/>
          </a:solidFill>
          <a:ln>
            <a:solidFill>
              <a:srgbClr val="1F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Postprocess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2011680"/>
            <a:ext cx="1508760" cy="594360"/>
          </a:xfrm>
          <a:prstGeom prst="roundRect">
            <a:avLst/>
          </a:prstGeom>
          <a:solidFill>
            <a:srgbClr val="2E6FA6"/>
          </a:solidFill>
          <a:ln>
            <a:solidFill>
              <a:srgbClr val="1F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Evaluation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46920" y="2011680"/>
            <a:ext cx="1508760" cy="594360"/>
          </a:xfrm>
          <a:prstGeom prst="roundRect">
            <a:avLst/>
          </a:prstGeom>
          <a:solidFill>
            <a:srgbClr val="2E6FA6"/>
          </a:solidFill>
          <a:ln>
            <a:solidFill>
              <a:srgbClr val="1F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Outputs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9184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/>
              <a:t>Virtual path: enhanced speech -&gt; virtual audio render endpoint -&gt; virtual capture endpoint -&gt; meeting application microphone input.</a:t>
            </a:r>
          </a:p>
          <a:p>
            <a:pPr>
              <a:spcAft>
                <a:spcPts val="400"/>
              </a:spcAft>
            </a:pPr>
            <a:r>
              <a:rPr/>
              <a:t>Physical speakers/headphones are a separate optional monitoring path; they are disabled by default to reduce acoustic feedback.</a:t>
            </a:r>
          </a:p>
          <a:p>
            <a:pPr>
              <a:spcAft>
                <a:spcPts val="400"/>
              </a:spcAft>
            </a:pPr>
            <a:r>
              <a:rPr/>
              <a:t>Implemented in code and tested as software: capture, DSP, ML, hybrid offline, buffering, metrics, reports. Physically unverified: virtual meeting app pairing and acoustic behavior.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35508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55555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3B57"/>
                </a:solidFill>
              </a:rPr>
              <a:t>Technology Stack and Implementation Modules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554480"/>
          <a:ext cx="106984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9240"/>
                <a:gridCol w="5349240"/>
              </a:tblGrid>
              <a:tr h="3396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Technologies / modules verified in code</a:t>
                      </a:r>
                    </a:p>
                  </a:txBody>
                  <a:tcPr/>
                </a:tc>
              </a:tr>
              <a:tr h="339634">
                <a:tc>
                  <a:txBody>
                    <a:bodyPr/>
                    <a:lstStyle/>
                    <a:p>
                      <a:r>
                        <a:rPr sz="1200"/>
                        <a:t>Language and GUI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Python; PySide6 (QMainWindow, tabs, sliders, status widgets)</a:t>
                      </a:r>
                    </a:p>
                  </a:txBody>
                  <a:tcPr/>
                </a:tc>
              </a:tr>
              <a:tr h="339634">
                <a:tc>
                  <a:txBody>
                    <a:bodyPr/>
                    <a:lstStyle/>
                    <a:p>
                      <a:r>
                        <a:rPr sz="1200"/>
                        <a:t>Numerical / signal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NumPy, SciPy, STFT/ISTFT, spectral gain processing, FFT</a:t>
                      </a:r>
                    </a:p>
                  </a:txBody>
                  <a:tcPr/>
                </a:tc>
              </a:tr>
              <a:tr h="339634">
                <a:tc>
                  <a:txBody>
                    <a:bodyPr/>
                    <a:lstStyle/>
                    <a:p>
                      <a:r>
                        <a:rPr sz="1200"/>
                        <a:t>Audio I/O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sounddevice, soundfile, PortAudio callbacks, CPU audio streaming</a:t>
                      </a:r>
                    </a:p>
                  </a:txBody>
                  <a:tcPr/>
                </a:tc>
              </a:tr>
              <a:tr h="339634">
                <a:tc>
                  <a:txBody>
                    <a:bodyPr/>
                    <a:lstStyle/>
                    <a:p>
                      <a:r>
                        <a:rPr sz="1200"/>
                        <a:t>Machine learning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ONNX Runtime, V3 CNN ONNX model, WAV/STFT preprocessing</a:t>
                      </a:r>
                    </a:p>
                  </a:txBody>
                  <a:tcPr/>
                </a:tc>
              </a:tr>
              <a:tr h="339634">
                <a:tc>
                  <a:txBody>
                    <a:bodyPr/>
                    <a:lstStyle/>
                    <a:p>
                      <a:r>
                        <a:rPr sz="1200"/>
                        <a:t>Visualization / reports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matplotlib, matplotlib FigureCanvas, metrics, plots, PDF report generation</a:t>
                      </a:r>
                    </a:p>
                  </a:txBody>
                  <a:tcPr/>
                </a:tc>
              </a:tr>
              <a:tr h="339636">
                <a:tc>
                  <a:txBody>
                    <a:bodyPr/>
                    <a:lstStyle/>
                    <a:p>
                      <a:r>
                        <a:rPr sz="1200"/>
                        <a:t>Quality / packaging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pytest, psutil, PyInstaller executable build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411480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/>
              <a:t>Modules: devices.py, engine.py, recording.py, pipeline.py, v41_reducer.py, enhancer.py, workflow.py, metrics.py, main_window.py.</a:t>
            </a:r>
          </a:p>
          <a:p>
            <a:pPr>
              <a:spcAft>
                <a:spcPts val="400"/>
              </a:spcAft>
            </a:pPr>
            <a:r>
              <a:rPr/>
              <a:t>Core runtime flow: configuration -&gt; GUI -&gt; AudioEngine -&gt; InputStream/OutputStream -&gt; processing worker -&gt; EnhancementPipeline / MLEnhancer.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35508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55555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3B57"/>
                </a:solidFill>
              </a:rPr>
              <a:t>DSP-Based Speech Enhancement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/>
              <a:t>The project includes V4.1 spectral noise reduction, adapted for streaming.</a:t>
            </a:r>
          </a:p>
          <a:p>
            <a:pPr>
              <a:spcAft>
                <a:spcPts val="400"/>
              </a:spcAft>
            </a:pPr>
            <a:r>
              <a:rPr/>
              <a:t>Processing stages: frame/window analysis, noise estimate, speech/noise detection, Wiener gain, gain smoothing, spectral reconstruction, clipping protection.</a:t>
            </a:r>
          </a:p>
          <a:p>
            <a:pPr>
              <a:spcAft>
                <a:spcPts val="400"/>
              </a:spcAft>
            </a:pPr>
            <a:r>
              <a:rPr/>
              <a:t>Noise power and previous gain are maintained as reducer state.</a:t>
            </a:r>
          </a:p>
          <a:p>
            <a:pPr>
              <a:spcAft>
                <a:spcPts val="400"/>
              </a:spcAft>
            </a:pPr>
            <a:r>
              <a:rPr/>
              <a:t>Enhancement strength is controlled by noise reduction and voice preservation parameters.</a:t>
            </a:r>
          </a:p>
          <a:p>
            <a:pPr>
              <a:spcAft>
                <a:spcPts val="400"/>
              </a:spcAft>
            </a:pPr>
            <a:r>
              <a:rPr/>
              <a:t>DSP works on CPU and does not require model inference.</a:t>
            </a:r>
          </a:p>
          <a:p>
            <a:pPr>
              <a:spcAft>
                <a:spcPts val="400"/>
              </a:spcAft>
            </a:pPr>
            <a:r>
              <a:rPr/>
              <a:t>Offline synthetic evaluation reported DSP RTF = 0.0109 for 3.0 seconds of audio.</a:t>
            </a:r>
          </a:p>
          <a:p>
            <a:pPr>
              <a:spcAft>
                <a:spcPts val="400"/>
              </a:spcAft>
            </a:pPr>
            <a:r>
              <a:rPr/>
              <a:t>Limitations: V4.1 is partly utterance-oriented; live processing depends on chunk size, buffer condition, and the quality of the noise estimate.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35508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55555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3B57"/>
                </a:solidFill>
              </a:rPr>
              <a:t>Machine-Learning and Hybrid Enhancement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/>
              <a:t>Machine learning uses a CPU ONNX V3 model discovered from the bundled models directory.</a:t>
            </a:r>
          </a:p>
          <a:p>
            <a:pPr>
              <a:spcAft>
                <a:spcPts val="400"/>
              </a:spcAft>
            </a:pPr>
            <a:r>
              <a:rPr/>
              <a:t>Model contract verified from checkpoint and ONNX metadata: 16 kHz, 512 FFT / 256 hop, 257 frequency bins, normalized magnitude input, normalized enhanced magnitude output.</a:t>
            </a:r>
          </a:p>
          <a:p>
            <a:pPr>
              <a:spcAft>
                <a:spcPts val="400"/>
              </a:spcAft>
            </a:pPr>
            <a:r>
              <a:rPr/>
              <a:t>Preprocessing: resample to 16 kHz, STFT, magnitude extraction, normalization; postprocessing: inference, inverse scaling, phase reuse, inverse STFT, output length restoration, clipping protection.</a:t>
            </a:r>
          </a:p>
          <a:p>
            <a:pPr>
              <a:spcAft>
                <a:spcPts val="400"/>
              </a:spcAft>
            </a:pPr>
            <a:r>
              <a:rPr/>
              <a:t>Hybrid mode performs ML enhancement first and then applies DSP enhancement to the ML result (verified in workflow.py).</a:t>
            </a:r>
          </a:p>
          <a:p>
            <a:pPr>
              <a:spcAft>
                <a:spcPts val="400"/>
              </a:spcAft>
            </a:pPr>
            <a:r>
              <a:rPr/>
              <a:t>All reported SNR gains come from synthetic clean-speech plus noise tests; subjective quality and clean-speech reference measurements remain necessary for stronger claims.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35508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55555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3B57"/>
                </a:solidFill>
              </a:rPr>
              <a:t>Application GUI and Real-Time Audio Routing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/>
              <a:t>The GUI has device selection, method selection, noise-reduction and voice-preservation controls, level meters, start/stop controls, recording/analysis, plots, and status text.</a:t>
            </a:r>
          </a:p>
          <a:p>
            <a:pPr>
              <a:spcAft>
                <a:spcPts val="400"/>
              </a:spcAft>
            </a:pPr>
            <a:r>
              <a:rPr/>
              <a:t>Live route: physical microphone -&gt; one capture stream -&gt; enhancement worker -&gt; one virtual audio destination.</a:t>
            </a:r>
          </a:p>
          <a:p>
            <a:pPr>
              <a:spcAft>
                <a:spcPts val="400"/>
              </a:spcAft>
            </a:pPr>
            <a:r>
              <a:rPr/>
              <a:t>Optional monitoring route: enhanced output -&gt; headphones or speakers only when enabled. This is disabled by default to reduce acoustic feedback.</a:t>
            </a:r>
          </a:p>
          <a:p>
            <a:pPr>
              <a:spcAft>
                <a:spcPts val="400"/>
              </a:spcAft>
            </a:pPr>
            <a:r>
              <a:rPr/>
              <a:t>Virtual playback/render endpoint and the corresponding virtual recording/capture endpoint are not the same device; both are shown with actual device names.</a:t>
            </a:r>
          </a:p>
          <a:p>
            <a:pPr>
              <a:spcAft>
                <a:spcPts val="400"/>
              </a:spcAft>
            </a:pPr>
            <a:r>
              <a:rPr/>
              <a:t>Diagnostics include selected/actual device identifiers, sample rate, channels, peak, RMS, latency, queue depth, underflows, overflows, model status, and errors.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12064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/>
              <a:t>Meeting-app integration concept: enhanced speech -&gt; virtual render endpoint -&gt; virtual capture endpoint -&gt; Google Meet/Teams/Zoom microphone selection.</a:t>
            </a:r>
          </a:p>
          <a:p>
            <a:pPr>
              <a:spcAft>
                <a:spcPts val="400"/>
              </a:spcAft>
            </a:pPr>
            <a:r>
              <a:rPr/>
              <a:t>Not physically verified in this workspace.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35508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55555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3B57"/>
                </a:solidFill>
              </a:rPr>
              <a:t>Experimental Setup and Evaluation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/>
              <a:t>Evaluation script uses 3.0 seconds of synthetic speech at 16 kHz.</a:t>
            </a:r>
          </a:p>
          <a:p>
            <a:pPr>
              <a:spcAft>
                <a:spcPts val="400"/>
              </a:spcAft>
            </a:pPr>
            <a:r>
              <a:rPr/>
              <a:t>Noise cases: white (10 dB target SNR), babble (8 dB), changing (12 dB).</a:t>
            </a:r>
          </a:p>
          <a:p>
            <a:pPr>
              <a:spcAft>
                <a:spcPts val="400"/>
              </a:spcAft>
            </a:pPr>
            <a:r>
              <a:rPr/>
              <a:t>Each configured mode receives the same noisy input for a controlled comparison.</a:t>
            </a:r>
          </a:p>
          <a:p>
            <a:pPr>
              <a:spcAft>
                <a:spcPts val="400"/>
              </a:spcAft>
            </a:pPr>
            <a:r>
              <a:rPr/>
              <a:t>Offline metrics: RMS, peak amplitude, SNR, SNR improvement, processing time, and real-time factor.</a:t>
            </a:r>
          </a:p>
          <a:p>
            <a:pPr>
              <a:spcAft>
                <a:spcPts val="400"/>
              </a:spcAft>
            </a:pPr>
            <a:r>
              <a:rPr/>
              <a:t>Automated tests: 17 passed in the current workspace.</a:t>
            </a:r>
          </a:p>
          <a:p>
            <a:pPr>
              <a:spcAft>
                <a:spcPts val="400"/>
              </a:spcAft>
            </a:pPr>
            <a:r>
              <a:rPr/>
              <a:t>Missing/unverified support: clean live-speech reference, physical microphone tests, subjective listening tests, and meeting-application tests.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35508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55555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3B57"/>
                </a:solidFill>
              </a:rPr>
              <a:t>Results, Comparison Graphs, and Metrics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85800" y="838200"/>
          <a:ext cx="1033272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2120"/>
                <a:gridCol w="1722120"/>
                <a:gridCol w="1722120"/>
                <a:gridCol w="1722120"/>
                <a:gridCol w="1722120"/>
                <a:gridCol w="1722120"/>
              </a:tblGrid>
              <a:tr h="3886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Noise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Noisy SNR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DSP SNR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ML SNR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DSP gain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ML gain</a:t>
                      </a:r>
                    </a:p>
                  </a:txBody>
                  <a:tcPr/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1300"/>
                        <a:t>White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10.000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10.542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13.920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+0.542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+3.920</a:t>
                      </a:r>
                    </a:p>
                  </a:txBody>
                  <a:tcPr/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1300"/>
                        <a:t>Babble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8.000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8.632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12.130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+0.632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+4.130</a:t>
                      </a:r>
                    </a:p>
                  </a:txBody>
                  <a:tcPr/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1300"/>
                        <a:t>Changing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12.000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12.116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14.944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+0.116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+2.944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146" y="2514600"/>
            <a:ext cx="10835854" cy="110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/>
              <a:t>DSP RTF in the synthetic evaluation: 0.0109. ML average processing time: 0.0740 s per 3.0 s block.</a:t>
            </a:r>
          </a:p>
          <a:p>
            <a:pPr>
              <a:spcAft>
                <a:spcPts val="400"/>
              </a:spcAft>
            </a:pPr>
            <a:r>
              <a:rPr/>
              <a:t>Lower RMS or lower SNR does not automatically prove better intelligibility; speech preservation requires listening tests.</a:t>
            </a:r>
          </a:p>
          <a:p>
            <a:pPr>
              <a:spcAft>
                <a:spcPts val="400"/>
              </a:spcAft>
            </a:pPr>
            <a:r>
              <a:rPr/>
              <a:t>SNR values use the synthetic clean reference generated by the evaluation script, not a live microphone recording.</a:t>
            </a:r>
          </a:p>
        </p:txBody>
      </p:sp>
      <p:pic>
        <p:nvPicPr>
          <p:cNvPr id="5" name="Picture 4" descr="snr_comparison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822960" y="4297680"/>
            <a:ext cx="4754880" cy="2194560"/>
          </a:xfrm>
          <a:prstGeom prst="rect">
            <a:avLst/>
          </a:prstGeom>
        </p:spPr>
      </p:pic>
      <p:pic>
        <p:nvPicPr>
          <p:cNvPr id="6" name="Picture 5" descr="waveform_white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852160" y="4297680"/>
            <a:ext cx="5303520" cy="2194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430000" y="635508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55555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3B57"/>
                </a:solidFill>
              </a:rPr>
              <a:t>Testing, Validation, and Current Status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55448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9240"/>
                <a:gridCol w="5349240"/>
              </a:tblGrid>
              <a:tr h="43891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100"/>
                        <a:t>Audio capture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Implemented and tested at code/interface level; physical 30-s recording reported in project status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100"/>
                        <a:t>DSP enhancement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Implemented; offline synthetic test and synthetic-data results available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100"/>
                        <a:t>ML enhancement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Implemented; offline synthetic test and synthetic-data results available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100"/>
                        <a:t>Hybrid enhancement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Implemented in offline workflow (ML then DSP)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100"/>
                        <a:t>Virtual microphone route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Implemented in software; hardware/meeting-app pairing unverified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100"/>
                        <a:t>GUI controls/status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Implemented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100"/>
                        <a:t>CSV metrics/plots/PDF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Implemented with generated plots and reports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100"/>
                        <a:t>Automated tests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17 passed in current workspace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100"/>
                        <a:t>Physical/meeting tests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Not verified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1430000" y="635508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55555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3B57"/>
                </a:solidFill>
              </a:rPr>
              <a:t>Limitations, Challenges, and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/>
              <a:t>Physical microphone quality, room noise, acoustic feedback, and speaker use are not validated here.</a:t>
            </a:r>
          </a:p>
          <a:p>
            <a:pPr>
              <a:spcAft>
                <a:spcPts val="400"/>
              </a:spcAft>
            </a:pPr>
            <a:r>
              <a:rPr/>
              <a:t>No software acoustic echo cancellation is implemented; headphones are recommended for monitoring.</a:t>
            </a:r>
          </a:p>
          <a:p>
            <a:pPr>
              <a:spcAft>
                <a:spcPts val="400"/>
              </a:spcAft>
            </a:pPr>
            <a:r>
              <a:rPr/>
              <a:t>ML and hybrid enhancement use buffered chunks and introduce latency.</a:t>
            </a:r>
          </a:p>
          <a:p>
            <a:pPr>
              <a:spcAft>
                <a:spcPts val="400"/>
              </a:spcAft>
            </a:pPr>
            <a:r>
              <a:rPr/>
              <a:t>Only synthetic speech with white, babble, and changing noise was used for reported SNR comparisons.</a:t>
            </a:r>
          </a:p>
          <a:p>
            <a:pPr>
              <a:spcAft>
                <a:spcPts val="400"/>
              </a:spcAft>
            </a:pPr>
            <a:r>
              <a:rPr/>
              <a:t>PESQ/STOI are available only when optional dependencies are installed.</a:t>
            </a:r>
          </a:p>
          <a:p>
            <a:pPr>
              <a:spcAft>
                <a:spcPts val="400"/>
              </a:spcAft>
            </a:pPr>
            <a:r>
              <a:rPr/>
              <a:t>Future work: better speech preservation, reliable real-time processing, thorough ML/hybrid evaluation, virtual-microphone verification, stable packaging, and automated tests.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35508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55555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3B57"/>
                </a:solidFill>
              </a:rPr>
              <a:t>Conclusion and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/>
              <a:t>The project addresses speech enhancement in noisy environments using DSP, V3 ONNX ML, and Hybrid processing.</a:t>
            </a:r>
          </a:p>
          <a:p>
            <a:pPr>
              <a:spcAft>
                <a:spcPts val="400"/>
              </a:spcAft>
            </a:pPr>
            <a:r>
              <a:rPr/>
              <a:t>It includes a PySide6 GUI, offline comparison, metrics, reports, and virtual-microphone routing.</a:t>
            </a:r>
          </a:p>
          <a:p>
            <a:pPr>
              <a:spcAft>
                <a:spcPts val="400"/>
              </a:spcAft>
            </a:pPr>
            <a:r>
              <a:rPr/>
              <a:t>Available evidence shows synthetic-data SNR improvements and fast DSP runtime, but not full physical or meeting-app validation.</a:t>
            </a:r>
          </a:p>
          <a:p>
            <a:pPr>
              <a:spcAft>
                <a:spcPts val="400"/>
              </a:spcAft>
            </a:pPr>
            <a:r>
              <a:rPr/>
              <a:t>The most important remaining work is acoustic/physical testing and verification of meeting software routing.</a:t>
            </a:r>
          </a:p>
          <a:p>
            <a:pPr>
              <a:spcAft>
                <a:spcPts val="400"/>
              </a:spcAft>
            </a:pPr>
            <a:r>
              <a:rPr/>
              <a:t>Thank You /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35508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55555"/>
                </a:solidFill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>
          <a:solidFill>
            <a:schemeClr val="phClr"/>
          </a:solidFill>
          <a:prstDash val="solid"/>
        </a:ln>
        <a:ln w="38100" cap="flat" cmpd="sng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algn="b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algn="b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algn="b" rotWithShape="0">
              <a:srgbClr val="000000">
                <a:alpha val="35000"/>
              </a:srgbClr>
            </a:outerShdw>
          </a:effectLst>
          <a:scene3d xmlns:a="http://schemas.openxmlformats.org/drawingml/2006/main"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 xmlns:a="http://schemas.openxmlformats.org/drawingml/2006/main"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 xmlns:a="http://schemas.openxmlformats.org/drawingml/2006/main"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 xmlns:a="http://schemas.openxmlformats.org/drawingml/2006/main"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DeckCraft</Application>
  <Slides>12</Slides>
  <Notes>0</Notes>
  <HiddenSlides>0</Hidden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</cp:coreProperties>
</file>